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80"/>
  </p:normalViewPr>
  <p:slideViewPr>
    <p:cSldViewPr snapToGrid="0" snapToObjects="1">
      <p:cViewPr varScale="1">
        <p:scale>
          <a:sx n="123" d="100"/>
          <a:sy n="123" d="100"/>
        </p:scale>
        <p:origin x="2376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tan Mudda" userId="8e101942-55ac-4ed7-847b-e33246df0ce0" providerId="ADAL" clId="{0EE2142A-11A6-5844-895F-14C386BF34B8}"/>
    <pc:docChg chg="undo custSel mod delSld modSld">
      <pc:chgData name="Ketan Mudda" userId="8e101942-55ac-4ed7-847b-e33246df0ce0" providerId="ADAL" clId="{0EE2142A-11A6-5844-895F-14C386BF34B8}" dt="2025-09-07T21:48:35.805" v="104" actId="20577"/>
      <pc:docMkLst>
        <pc:docMk/>
      </pc:docMkLst>
      <pc:sldChg chg="addSp delSp modSp mod">
        <pc:chgData name="Ketan Mudda" userId="8e101942-55ac-4ed7-847b-e33246df0ce0" providerId="ADAL" clId="{0EE2142A-11A6-5844-895F-14C386BF34B8}" dt="2025-09-07T21:43:03.738" v="7" actId="478"/>
        <pc:sldMkLst>
          <pc:docMk/>
          <pc:sldMk cId="0" sldId="256"/>
        </pc:sldMkLst>
        <pc:spChg chg="add del mod">
          <ac:chgData name="Ketan Mudda" userId="8e101942-55ac-4ed7-847b-e33246df0ce0" providerId="ADAL" clId="{0EE2142A-11A6-5844-895F-14C386BF34B8}" dt="2025-09-07T21:43:03.738" v="7" actId="478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Ketan Mudda" userId="8e101942-55ac-4ed7-847b-e33246df0ce0" providerId="ADAL" clId="{0EE2142A-11A6-5844-895F-14C386BF34B8}" dt="2025-09-07T21:43:22.068" v="8" actId="12"/>
        <pc:sldMkLst>
          <pc:docMk/>
          <pc:sldMk cId="0" sldId="257"/>
        </pc:sldMkLst>
        <pc:spChg chg="mod">
          <ac:chgData name="Ketan Mudda" userId="8e101942-55ac-4ed7-847b-e33246df0ce0" providerId="ADAL" clId="{0EE2142A-11A6-5844-895F-14C386BF34B8}" dt="2025-09-07T21:43:22.068" v="8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etan Mudda" userId="8e101942-55ac-4ed7-847b-e33246df0ce0" providerId="ADAL" clId="{0EE2142A-11A6-5844-895F-14C386BF34B8}" dt="2025-09-07T21:43:33.478" v="9" actId="12"/>
        <pc:sldMkLst>
          <pc:docMk/>
          <pc:sldMk cId="0" sldId="258"/>
        </pc:sldMkLst>
        <pc:spChg chg="mod">
          <ac:chgData name="Ketan Mudda" userId="8e101942-55ac-4ed7-847b-e33246df0ce0" providerId="ADAL" clId="{0EE2142A-11A6-5844-895F-14C386BF34B8}" dt="2025-09-07T21:43:33.478" v="9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etan Mudda" userId="8e101942-55ac-4ed7-847b-e33246df0ce0" providerId="ADAL" clId="{0EE2142A-11A6-5844-895F-14C386BF34B8}" dt="2025-09-07T21:44:33.436" v="13" actId="20577"/>
        <pc:sldMkLst>
          <pc:docMk/>
          <pc:sldMk cId="0" sldId="259"/>
        </pc:sldMkLst>
        <pc:spChg chg="mod">
          <ac:chgData name="Ketan Mudda" userId="8e101942-55ac-4ed7-847b-e33246df0ce0" providerId="ADAL" clId="{0EE2142A-11A6-5844-895F-14C386BF34B8}" dt="2025-09-07T21:44:33.436" v="13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Ketan Mudda" userId="8e101942-55ac-4ed7-847b-e33246df0ce0" providerId="ADAL" clId="{0EE2142A-11A6-5844-895F-14C386BF34B8}" dt="2025-09-07T21:45:27.402" v="14" actId="12"/>
        <pc:sldMkLst>
          <pc:docMk/>
          <pc:sldMk cId="0" sldId="260"/>
        </pc:sldMkLst>
        <pc:spChg chg="mod">
          <ac:chgData name="Ketan Mudda" userId="8e101942-55ac-4ed7-847b-e33246df0ce0" providerId="ADAL" clId="{0EE2142A-11A6-5844-895F-14C386BF34B8}" dt="2025-09-07T21:45:27.402" v="14" actId="12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Ketan Mudda" userId="8e101942-55ac-4ed7-847b-e33246df0ce0" providerId="ADAL" clId="{0EE2142A-11A6-5844-895F-14C386BF34B8}" dt="2025-09-07T21:48:35.805" v="104" actId="20577"/>
        <pc:sldMkLst>
          <pc:docMk/>
          <pc:sldMk cId="0" sldId="261"/>
        </pc:sldMkLst>
        <pc:spChg chg="mod">
          <ac:chgData name="Ketan Mudda" userId="8e101942-55ac-4ed7-847b-e33246df0ce0" providerId="ADAL" clId="{0EE2142A-11A6-5844-895F-14C386BF34B8}" dt="2025-09-07T21:48:35.805" v="104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Ketan Mudda" userId="8e101942-55ac-4ed7-847b-e33246df0ce0" providerId="ADAL" clId="{0EE2142A-11A6-5844-895F-14C386BF34B8}" dt="2025-09-07T21:48:02.401" v="86" actId="478"/>
        <pc:sldMkLst>
          <pc:docMk/>
          <pc:sldMk cId="0" sldId="262"/>
        </pc:sldMkLst>
        <pc:spChg chg="del">
          <ac:chgData name="Ketan Mudda" userId="8e101942-55ac-4ed7-847b-e33246df0ce0" providerId="ADAL" clId="{0EE2142A-11A6-5844-895F-14C386BF34B8}" dt="2025-09-07T21:47:59.743" v="84" actId="478"/>
          <ac:spMkLst>
            <pc:docMk/>
            <pc:sldMk cId="0" sldId="262"/>
            <ac:spMk id="3" creationId="{00000000-0000-0000-0000-000000000000}"/>
          </ac:spMkLst>
        </pc:spChg>
        <pc:spChg chg="add del mod">
          <ac:chgData name="Ketan Mudda" userId="8e101942-55ac-4ed7-847b-e33246df0ce0" providerId="ADAL" clId="{0EE2142A-11A6-5844-895F-14C386BF34B8}" dt="2025-09-07T21:48:02.401" v="86" actId="478"/>
          <ac:spMkLst>
            <pc:docMk/>
            <pc:sldMk cId="0" sldId="262"/>
            <ac:spMk id="14" creationId="{BCBB8CDE-2539-9189-F7CA-5A7CFA017111}"/>
          </ac:spMkLst>
        </pc:spChg>
      </pc:sldChg>
      <pc:sldChg chg="del">
        <pc:chgData name="Ketan Mudda" userId="8e101942-55ac-4ed7-847b-e33246df0ce0" providerId="ADAL" clId="{0EE2142A-11A6-5844-895F-14C386BF34B8}" dt="2025-09-07T21:48:15.033" v="87" actId="2696"/>
        <pc:sldMkLst>
          <pc:docMk/>
          <pc:sldMk cId="0" sldId="263"/>
        </pc:sldMkLst>
      </pc:sldChg>
      <pc:sldChg chg="del">
        <pc:chgData name="Ketan Mudda" userId="8e101942-55ac-4ed7-847b-e33246df0ce0" providerId="ADAL" clId="{0EE2142A-11A6-5844-895F-14C386BF34B8}" dt="2025-09-07T21:48:23.063" v="88" actId="2696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Walmart – UMD MSBA Capstone Project</a:t>
            </a:r>
          </a:p>
          <a:p>
            <a:r>
              <a:rPr sz="3200" b="1">
                <a:solidFill>
                  <a:srgbClr val="003366"/>
                </a:solidFill>
              </a:rPr>
              <a:t>Fall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3C3C3C"/>
                </a:solidFill>
              </a:rPr>
              <a:t>Forecasting Department-Level Inbound Cases for Walmart Stores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1. Introduction to Walmart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2. The Workforce Management Challenge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3. Project Overview &amp; Purpose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4. Data &amp; Approach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5. Deliverables &amp; Timeline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6. Team Structure &amp; Mentorship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7. Expectations &amp; Next Steps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8.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Introduction to Walmart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Fortune 1 retailer with ~4,600 U.S. stores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Mission: Save people money so they can live better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Workforce of 1.6M+ U.S. associates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Heavy reliance on efficient supply chain &amp; labor scheduling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The Workforce Management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Currently forecast aggregate store-level inbound cases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Need: Disaggregate</a:t>
            </a:r>
            <a:r>
              <a:rPr lang="en-US" sz="2000" dirty="0">
                <a:solidFill>
                  <a:srgbClr val="3C3C3C"/>
                </a:solidFill>
              </a:rPr>
              <a:t>d</a:t>
            </a:r>
            <a:r>
              <a:rPr sz="2000" dirty="0">
                <a:solidFill>
                  <a:srgbClr val="3C3C3C"/>
                </a:solidFill>
              </a:rPr>
              <a:t> forecasts to department-level (e.g., Paper Goods, Health &amp; Beauty)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Why it matters: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   – Stocking effort varies by department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   – Labor planning requires precision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   – Better associate experience and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Project Overview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>
                <a:solidFill>
                  <a:srgbClr val="3C3C3C"/>
                </a:solidFill>
              </a:rPr>
              <a:t>Objective:</a:t>
            </a:r>
          </a:p>
          <a:p>
            <a:pPr marL="0" indent="0">
              <a:buNone/>
            </a:pPr>
            <a:r>
              <a:rPr sz="2000">
                <a:solidFill>
                  <a:srgbClr val="3C3C3C"/>
                </a:solidFill>
              </a:rPr>
              <a:t>Develop 5-week-ahead forecasting models for department-level inbound cases per store/day.</a:t>
            </a:r>
          </a:p>
          <a:p>
            <a:pPr marL="0" indent="0">
              <a:buNone/>
            </a:pPr>
            <a:endParaRPr sz="2000">
              <a:solidFill>
                <a:srgbClr val="3C3C3C"/>
              </a:solidFill>
            </a:endParaRPr>
          </a:p>
          <a:p>
            <a:pPr marL="0" indent="0">
              <a:buNone/>
            </a:pPr>
            <a:r>
              <a:rPr sz="2000">
                <a:solidFill>
                  <a:srgbClr val="3C3C3C"/>
                </a:solidFill>
              </a:rPr>
              <a:t>Impact:</a:t>
            </a:r>
          </a:p>
          <a:p>
            <a:pPr marL="0" indent="0">
              <a:buNone/>
            </a:pPr>
            <a:r>
              <a:rPr sz="2000">
                <a:solidFill>
                  <a:srgbClr val="3C3C3C"/>
                </a:solidFill>
              </a:rPr>
              <a:t>• Align labor schedules with department needs</a:t>
            </a:r>
          </a:p>
          <a:p>
            <a:pPr marL="0" indent="0">
              <a:buNone/>
            </a:pPr>
            <a:r>
              <a:rPr sz="2000">
                <a:solidFill>
                  <a:srgbClr val="3C3C3C"/>
                </a:solidFill>
              </a:rPr>
              <a:t>• Improve efficiency &amp; associate satisfaction</a:t>
            </a:r>
          </a:p>
          <a:p>
            <a:pPr marL="0" indent="0">
              <a:buNone/>
            </a:pPr>
            <a:r>
              <a:rPr sz="2000">
                <a:solidFill>
                  <a:srgbClr val="3C3C3C"/>
                </a:solidFill>
              </a:rPr>
              <a:t>• Provide granular insights beyond current forecasts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Data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Data provided by Walmart:</a:t>
            </a:r>
          </a:p>
          <a:p>
            <a:r>
              <a:rPr sz="2000" dirty="0">
                <a:solidFill>
                  <a:srgbClr val="3C3C3C"/>
                </a:solidFill>
              </a:rPr>
              <a:t>Historical inbound cases (store &amp; department)</a:t>
            </a:r>
          </a:p>
          <a:p>
            <a:r>
              <a:rPr sz="2000" dirty="0">
                <a:solidFill>
                  <a:srgbClr val="3C3C3C"/>
                </a:solidFill>
              </a:rPr>
              <a:t>Department metadata &amp; store attributes</a:t>
            </a:r>
          </a:p>
          <a:p>
            <a:r>
              <a:rPr lang="en-US" sz="2000" dirty="0">
                <a:solidFill>
                  <a:srgbClr val="3C3C3C"/>
                </a:solidFill>
              </a:rPr>
              <a:t>Aggregate forecasts (for benchmarking)</a:t>
            </a:r>
          </a:p>
          <a:p>
            <a:r>
              <a:rPr lang="en-US" sz="2000" dirty="0">
                <a:solidFill>
                  <a:srgbClr val="3C3C3C"/>
                </a:solidFill>
              </a:rPr>
              <a:t>Department level sales</a:t>
            </a:r>
          </a:p>
          <a:p>
            <a:r>
              <a:rPr lang="en-US" sz="2000">
                <a:solidFill>
                  <a:srgbClr val="3C3C3C"/>
                </a:solidFill>
              </a:rPr>
              <a:t>Truck Schedules</a:t>
            </a:r>
            <a:endParaRPr sz="2000" dirty="0">
              <a:solidFill>
                <a:srgbClr val="3C3C3C"/>
              </a:solidFill>
            </a:endParaRPr>
          </a:p>
          <a:p>
            <a:pPr marL="0" indent="0">
              <a:buNone/>
            </a:pPr>
            <a:endParaRPr sz="2000" dirty="0">
              <a:solidFill>
                <a:srgbClr val="3C3C3C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Approach: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Data exploration &amp; feature engineering (sales, shipments, seasonality, weather)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Model development (</a:t>
            </a:r>
            <a:r>
              <a:rPr lang="en-US" sz="2000" dirty="0">
                <a:solidFill>
                  <a:srgbClr val="3C3C3C"/>
                </a:solidFill>
              </a:rPr>
              <a:t>T</a:t>
            </a:r>
            <a:r>
              <a:rPr sz="2000" dirty="0">
                <a:solidFill>
                  <a:srgbClr val="3C3C3C"/>
                </a:solidFill>
              </a:rPr>
              <a:t>ime </a:t>
            </a:r>
            <a:r>
              <a:rPr lang="en-US" sz="2000" dirty="0">
                <a:solidFill>
                  <a:srgbClr val="3C3C3C"/>
                </a:solidFill>
              </a:rPr>
              <a:t>S</a:t>
            </a:r>
            <a:r>
              <a:rPr sz="2000" dirty="0">
                <a:solidFill>
                  <a:srgbClr val="3C3C3C"/>
                </a:solidFill>
              </a:rPr>
              <a:t>eries, ML</a:t>
            </a:r>
            <a:r>
              <a:rPr lang="en-US" sz="2000" dirty="0">
                <a:solidFill>
                  <a:srgbClr val="3C3C3C"/>
                </a:solidFill>
              </a:rPr>
              <a:t>, LLMs, etc.</a:t>
            </a:r>
            <a:r>
              <a:rPr sz="2000" dirty="0">
                <a:solidFill>
                  <a:srgbClr val="3C3C3C"/>
                </a:solidFill>
              </a:rPr>
              <a:t>)</a:t>
            </a:r>
          </a:p>
          <a:p>
            <a:pPr marL="0" indent="0">
              <a:buNone/>
            </a:pPr>
            <a:r>
              <a:rPr sz="2000" dirty="0">
                <a:solidFill>
                  <a:srgbClr val="3C3C3C"/>
                </a:solidFill>
              </a:rPr>
              <a:t>• Evaluation using MAPE &amp; Bias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Deliverables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solidFill>
            <a:srgbClr val="005BB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</a:rPr>
              <a:t>Weeks 1–2</a:t>
            </a:r>
          </a:p>
          <a:p>
            <a:r>
              <a:rPr sz="1200" b="1">
                <a:solidFill>
                  <a:srgbClr val="FFFFFF"/>
                </a:solidFill>
              </a:rPr>
              <a:t>Kickoff &amp; Data Access</a:t>
            </a:r>
          </a:p>
        </p:txBody>
      </p:sp>
      <p:sp>
        <p:nvSpPr>
          <p:cNvPr id="5" name="Right Brace 4"/>
          <p:cNvSpPr/>
          <p:nvPr/>
        </p:nvSpPr>
        <p:spPr>
          <a:xfrm>
            <a:off x="1828800" y="2987040"/>
            <a:ext cx="274320" cy="274320"/>
          </a:xfrm>
          <a:prstGeom prst="rightBrace">
            <a:avLst/>
          </a:prstGeom>
          <a:solidFill>
            <a:srgbClr val="FFC7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03120" y="2743200"/>
            <a:ext cx="1371600" cy="731520"/>
          </a:xfrm>
          <a:prstGeom prst="rect">
            <a:avLst/>
          </a:prstGeom>
          <a:solidFill>
            <a:srgbClr val="005BB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</a:rPr>
              <a:t>Weeks 3–5</a:t>
            </a:r>
          </a:p>
          <a:p>
            <a:r>
              <a:rPr sz="1200" b="1">
                <a:solidFill>
                  <a:srgbClr val="FFFFFF"/>
                </a:solidFill>
              </a:rPr>
              <a:t>Exploration &amp; Features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3474720" y="2987040"/>
            <a:ext cx="274320" cy="274320"/>
          </a:xfrm>
          <a:prstGeom prst="rightBrace">
            <a:avLst/>
          </a:prstGeom>
          <a:solidFill>
            <a:srgbClr val="FFC7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49040" y="2743200"/>
            <a:ext cx="1371600" cy="731520"/>
          </a:xfrm>
          <a:prstGeom prst="rect">
            <a:avLst/>
          </a:prstGeom>
          <a:solidFill>
            <a:srgbClr val="005BB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</a:rPr>
              <a:t>Weeks 6–8</a:t>
            </a:r>
          </a:p>
          <a:p>
            <a:r>
              <a:rPr sz="1200" b="1">
                <a:solidFill>
                  <a:srgbClr val="FFFFFF"/>
                </a:solidFill>
              </a:rPr>
              <a:t>Model Development</a:t>
            </a:r>
          </a:p>
        </p:txBody>
      </p:sp>
      <p:sp>
        <p:nvSpPr>
          <p:cNvPr id="9" name="Right Brace 8"/>
          <p:cNvSpPr/>
          <p:nvPr/>
        </p:nvSpPr>
        <p:spPr>
          <a:xfrm>
            <a:off x="5120640" y="2987040"/>
            <a:ext cx="274320" cy="274320"/>
          </a:xfrm>
          <a:prstGeom prst="rightBrace">
            <a:avLst/>
          </a:prstGeom>
          <a:solidFill>
            <a:srgbClr val="FFC7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4960" y="2743200"/>
            <a:ext cx="1371600" cy="731520"/>
          </a:xfrm>
          <a:prstGeom prst="rect">
            <a:avLst/>
          </a:prstGeom>
          <a:solidFill>
            <a:srgbClr val="005BB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</a:rPr>
              <a:t>Weeks 9–10</a:t>
            </a:r>
          </a:p>
          <a:p>
            <a:r>
              <a:rPr sz="1200" b="1">
                <a:solidFill>
                  <a:srgbClr val="FFFFFF"/>
                </a:solidFill>
              </a:rPr>
              <a:t>Insights &amp; Iteration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6766560" y="2987040"/>
            <a:ext cx="274320" cy="274320"/>
          </a:xfrm>
          <a:prstGeom prst="rightBrace">
            <a:avLst/>
          </a:prstGeom>
          <a:solidFill>
            <a:srgbClr val="FFC7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2743200"/>
            <a:ext cx="1371600" cy="731520"/>
          </a:xfrm>
          <a:prstGeom prst="rect">
            <a:avLst/>
          </a:prstGeom>
          <a:solidFill>
            <a:srgbClr val="005BB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</a:rPr>
              <a:t>Weeks 11–12</a:t>
            </a:r>
          </a:p>
          <a:p>
            <a:r>
              <a:rPr sz="1200" b="1">
                <a:solidFill>
                  <a:srgbClr val="FFFFFF"/>
                </a:solidFill>
              </a:rPr>
              <a:t>Final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C3C3C"/>
                </a:solidFill>
              </a:rPr>
              <a:t>Looking forward to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311</Words>
  <Application>Microsoft Macintosh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Walmart – UMD MSBA Capstone Project Fall 2025</vt:lpstr>
      <vt:lpstr>Agenda</vt:lpstr>
      <vt:lpstr>Introduction to Walmart</vt:lpstr>
      <vt:lpstr>The Workforce Management Challenge</vt:lpstr>
      <vt:lpstr>Project Overview &amp; Purpose</vt:lpstr>
      <vt:lpstr>Data &amp; Approach</vt:lpstr>
      <vt:lpstr>Deliverables &amp; Timeline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Ketan Mudda</cp:lastModifiedBy>
  <cp:revision>1</cp:revision>
  <dcterms:created xsi:type="dcterms:W3CDTF">2013-01-27T09:14:16Z</dcterms:created>
  <dcterms:modified xsi:type="dcterms:W3CDTF">2025-09-07T21:48:36Z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4820e8-223f-4ed2-bd95-81c83f641284_Enabled">
    <vt:lpwstr>true</vt:lpwstr>
  </property>
  <property fmtid="{D5CDD505-2E9C-101B-9397-08002B2CF9AE}" pid="3" name="MSIP_Label_b24820e8-223f-4ed2-bd95-81c83f641284_SetDate">
    <vt:lpwstr>2025-09-07T21:41:42Z</vt:lpwstr>
  </property>
  <property fmtid="{D5CDD505-2E9C-101B-9397-08002B2CF9AE}" pid="4" name="MSIP_Label_b24820e8-223f-4ed2-bd95-81c83f641284_Method">
    <vt:lpwstr>Standard</vt:lpwstr>
  </property>
  <property fmtid="{D5CDD505-2E9C-101B-9397-08002B2CF9AE}" pid="5" name="MSIP_Label_b24820e8-223f-4ed2-bd95-81c83f641284_Name">
    <vt:lpwstr>b24820e8-223f-4ed2-bd95-81c83f641284</vt:lpwstr>
  </property>
  <property fmtid="{D5CDD505-2E9C-101B-9397-08002B2CF9AE}" pid="6" name="MSIP_Label_b24820e8-223f-4ed2-bd95-81c83f641284_SiteId">
    <vt:lpwstr>3cbcc3d3-094d-4006-9849-0d11d61f484d</vt:lpwstr>
  </property>
  <property fmtid="{D5CDD505-2E9C-101B-9397-08002B2CF9AE}" pid="7" name="MSIP_Label_b24820e8-223f-4ed2-bd95-81c83f641284_ActionId">
    <vt:lpwstr>a6439089-31f0-436d-a625-629bd97f0db0</vt:lpwstr>
  </property>
  <property fmtid="{D5CDD505-2E9C-101B-9397-08002B2CF9AE}" pid="8" name="MSIP_Label_b24820e8-223f-4ed2-bd95-81c83f641284_ContentBits">
    <vt:lpwstr>0</vt:lpwstr>
  </property>
  <property fmtid="{D5CDD505-2E9C-101B-9397-08002B2CF9AE}" pid="9" name="MSIP_Label_b24820e8-223f-4ed2-bd95-81c83f641284_Tag">
    <vt:lpwstr>50, 3, 0, 1</vt:lpwstr>
  </property>
</Properties>
</file>